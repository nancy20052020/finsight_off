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/try" TargetMode="External"/><Relationship Id="rId3" Type="http://schemas.openxmlformats.org/officeDocument/2006/relationships/hyperlink" Target="https://finsight-off.vercel.app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/demo" TargetMode="External"/><Relationship Id="rId3" Type="http://schemas.openxmlformats.org/officeDocument/2006/relationships/hyperlink" Target="https://finsight-off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Relationship Id="rId3" Type="http://schemas.openxmlformats.org/officeDocument/2006/relationships/hyperlink" Target="https://finsight-off.vercel.app/try" TargetMode="External"/><Relationship Id="rId4" Type="http://schemas.openxmlformats.org/officeDocument/2006/relationships/hyperlink" Target="https://finsight-off.vercel.app/dem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50292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0F9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530352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4281D"/>
                </a:solidFill>
                <a:latin typeface="Calibri"/>
              </a:rPr>
              <a:t>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53035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FinSight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3749039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See the day
cash runs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794760"/>
            <a:ext cx="3749039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5D0E0"/>
                </a:solidFill>
                <a:latin typeface="Calibri"/>
              </a:rPr>
              <a:t>A small-business cash forecast. Both files in. The day cash hits zero, and the bill that causes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80644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 u="sng">
                <a:solidFill>
                  <a:srgbClr val="6EE7B7"/>
                </a:solidFill>
                <a:latin typeface="Calibri"/>
                <a:hlinkClick r:id="rId2"/>
              </a:rPr>
              <a:t>finsight-off.vercel.app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6400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7490"/>
                </a:solidFill>
                <a:latin typeface="Calibri"/>
              </a:rPr>
              <a:t>FOR SMALL BUSINESSES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96012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F172A"/>
                </a:solidFill>
                <a:latin typeface="Calibri"/>
              </a:rPr>
              <a:t>Will you run
out of cash?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880360"/>
            <a:ext cx="6309360" cy="932688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3026664"/>
            <a:ext cx="585216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90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3337560"/>
            <a:ext cx="58521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How far ahead the forecast looks.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3931920"/>
            <a:ext cx="6309360" cy="932688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4078224"/>
            <a:ext cx="585216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2 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4389120"/>
            <a:ext cx="58521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Bank statement and open invoices. Both are required.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12080" y="4983479"/>
            <a:ext cx="6309360" cy="932688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5129783"/>
            <a:ext cx="585216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In the 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40679"/>
            <a:ext cx="58521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Nothing is uploaded to a server.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1  / 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7490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F172A"/>
                </a:solidFill>
                <a:latin typeface="Calibri"/>
              </a:rPr>
              <a:t>A busy month can still miss payroll.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286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9F6E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78892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172A"/>
                </a:solidFill>
                <a:latin typeface="Calibri"/>
              </a:rPr>
              <a:t>Payday is fixed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977639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B6B82"/>
                </a:solidFill>
                <a:latin typeface="Calibri"/>
              </a:rPr>
              <a:t>Rent, payroll, and the loan land on their usual days. A late customer does not move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05740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286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9F6E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78892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172A"/>
                </a:solidFill>
                <a:latin typeface="Calibri"/>
              </a:rPr>
              <a:t>Billed is not collected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977639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B6B82"/>
                </a:solidFill>
                <a:latin typeface="Calibri"/>
              </a:rPr>
              <a:t>Invoices can be larger than spending, and cash still hits zero before the money arrives.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05740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286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9F6E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78892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172A"/>
                </a:solidFill>
                <a:latin typeface="Calibri"/>
              </a:rPr>
              <a:t>Last month is a poor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977639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B6B82"/>
                </a:solidFill>
                <a:latin typeface="Calibri"/>
              </a:rPr>
              <a:t>Repeating the last 30 days ignores the calendar. It does not know which day payroll hits.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FinSight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6473952"/>
            <a:ext cx="7498079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b="0" i="0" u="sng">
                <a:solidFill>
                  <a:srgbClr val="0E7490"/>
                </a:solidFill>
                <a:latin typeface="Calibri"/>
                <a:hlinkClick r:id="rId2"/>
              </a:rPr>
              <a:t>https://finsight-off.vercel.app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2  / 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7490"/>
                </a:solidFill>
                <a:latin typeface="Calibri"/>
              </a:rPr>
              <a:t>WHAT THE SCREEN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F172A"/>
                </a:solidFill>
                <a:latin typeface="Calibri"/>
              </a:rPr>
              <a:t>Plain questions. One chart.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111556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196596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020824"/>
            <a:ext cx="438912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F6E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37944"/>
            <a:ext cx="960120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Where you stand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203704"/>
            <a:ext cx="96012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82"/>
                </a:solidFill>
                <a:latin typeface="Calibri"/>
              </a:rPr>
              <a:t>Cash now, what you billed, what you collected, and what you spent.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88920"/>
            <a:ext cx="111556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06324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118104"/>
            <a:ext cx="438912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F6E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35224"/>
            <a:ext cx="960120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What happens 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300984"/>
            <a:ext cx="96012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82"/>
                </a:solidFill>
                <a:latin typeface="Calibri"/>
              </a:rPr>
              <a:t>Blue is the forecast. Gold pretends every day looks like the last 30.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111556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" y="416052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215384"/>
            <a:ext cx="438912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F6E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032504"/>
            <a:ext cx="960120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Why cash falls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398264"/>
            <a:ext cx="96012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82"/>
                </a:solidFill>
                <a:latin typeface="Calibri"/>
              </a:rPr>
              <a:t>The payment or bill that pushes the balance below zero.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83479"/>
            <a:ext cx="111556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5257799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5312663"/>
            <a:ext cx="438912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F6E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129783"/>
            <a:ext cx="960120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Try a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495543"/>
            <a:ext cx="96012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82"/>
                </a:solidFill>
                <a:latin typeface="Calibri"/>
              </a:rPr>
              <a:t>Move one incoming payment, or cut marketing. The side chart redraws.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FinSight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6473952"/>
            <a:ext cx="7498079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b="0" i="0" u="sng">
                <a:solidFill>
                  <a:srgbClr val="0E7490"/>
                </a:solidFill>
                <a:latin typeface="Calibri"/>
                <a:hlinkClick r:id="rId2"/>
              </a:rPr>
              <a:t>https://finsight-off.vercel.app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3  / 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7490"/>
                </a:solidFill>
                <a:latin typeface="Calibri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F172A"/>
                </a:solidFill>
                <a:latin typeface="Calibri"/>
              </a:rPr>
              <a:t>Both files, or no forecast.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 u="sng">
                <a:solidFill>
                  <a:srgbClr val="0E7490"/>
                </a:solidFill>
                <a:latin typeface="Calibri"/>
                <a:hlinkClick r:id="rId2"/>
              </a:rPr>
              <a:t>https://finsight-off.vercel.app/try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7452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247802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55117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0008"/>
            <a:ext cx="621792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Bank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34056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Dates and amounts, or debit and credit. This is money in and money 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29000"/>
            <a:ext cx="7452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3758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83133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630168"/>
            <a:ext cx="621792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Invoices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014216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Customer, amount, and due date. This is who still owes you.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09160"/>
            <a:ext cx="7452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503834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11149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910328"/>
            <a:ext cx="621792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Show my forecast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94376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If either file is missing, the page says so and stays on the form.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14884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37744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Nothing is stored.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24612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0E0"/>
                </a:solidFill>
                <a:latin typeface="Calibri"/>
              </a:rPr>
              <a:t>The files are read in the browser. Use different files clears them and returns to the form.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FinSight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6473952"/>
            <a:ext cx="7498079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b="0" i="0" u="sng">
                <a:solidFill>
                  <a:srgbClr val="0E7490"/>
                </a:solidFill>
                <a:latin typeface="Calibri"/>
                <a:hlinkClick r:id="rId3"/>
              </a:rPr>
              <a:t>https://finsight-off.vercel.app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4  / 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7490"/>
                </a:solidFill>
                <a:latin typeface="Calibri"/>
              </a:rPr>
              <a:t>THE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F172A"/>
                </a:solidFill>
                <a:latin typeface="Calibri"/>
              </a:rPr>
              <a:t>Harbor &amp; Co. runs out on payday.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 u="sng">
                <a:solidFill>
                  <a:srgbClr val="0E7490"/>
                </a:solidFill>
                <a:latin typeface="Calibri"/>
                <a:hlinkClick r:id="rId2"/>
              </a:rPr>
              <a:t>https://finsight-off.vercel.app/demo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219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$12,550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0896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Cash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96596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2219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23 Mar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10896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Cash runs 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2219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$20,000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10896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Still unpaid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96596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22219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10896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Chance of running out in 30 days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60520"/>
            <a:ext cx="111556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708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How to read the chart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0060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B6B82"/>
                </a:solidFill>
                <a:latin typeface="Calibri"/>
              </a:rPr>
              <a:t>Blue is the forecast that knows payday. Gold only repeats last month.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 b="0" i="0">
                <a:solidFill>
                  <a:srgbClr val="5B6B82"/>
                </a:solidFill>
                <a:latin typeface="Calibri"/>
              </a:rPr>
              <a:t>Brightline invoice BR-109 is the open $20,000 bill. The shade is the likely range.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FinSight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6473952"/>
            <a:ext cx="7498079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b="0" i="0" u="sng">
                <a:solidFill>
                  <a:srgbClr val="0E7490"/>
                </a:solidFill>
                <a:latin typeface="Calibri"/>
                <a:hlinkClick r:id="rId3"/>
              </a:rPr>
              <a:t>https://finsight-off.vercel.app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5  / 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7490"/>
                </a:solidFill>
                <a:latin typeface="Calibri"/>
              </a:rPr>
              <a:t>SEE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F172A"/>
                </a:solidFill>
                <a:latin typeface="Calibri"/>
              </a:rPr>
              <a:t>The rows behind the chart, on the same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B6B82"/>
                </a:solidFill>
                <a:latin typeface="Calibri"/>
              </a:rPr>
              <a:t>On the example, and after you add your own files, one button opens the source. The forecast stays one click away.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557784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5577840" cy="109728"/>
          </a:xfrm>
          <a:prstGeom prst="rect">
            <a:avLst/>
          </a:prstGeom>
          <a:solidFill>
            <a:srgbClr val="0F9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Bank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B6B82"/>
                </a:solidFill>
                <a:latin typeface="Calibri"/>
              </a:rPr>
              <a:t>Every line. Money out, money in, and the balance left after each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9F6E"/>
                </a:solidFill>
                <a:latin typeface="Calibri"/>
              </a:rPr>
              <a:t>44 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82"/>
                </a:solidFill>
                <a:latin typeface="Calibri"/>
              </a:rPr>
              <a:t>In the Harbor &amp; Co. example, from October 2025 through 2 March 2026.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2423160"/>
            <a:ext cx="557784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59" y="2423160"/>
            <a:ext cx="5577840" cy="10972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399" y="274320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Invoices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399" y="342900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B6B82"/>
                </a:solidFill>
                <a:latin typeface="Calibri"/>
              </a:rPr>
              <a:t>Who was billed, when it was due, and whether it was paid.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399" y="4617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9F6E"/>
                </a:solidFill>
                <a:latin typeface="Calibri"/>
              </a:rPr>
              <a:t>1 still 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399" y="502920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82"/>
                </a:solidFill>
                <a:latin typeface="Calibri"/>
              </a:rPr>
              <a:t>BR-109, Brightline Studio, $20,000, due 10 March 2026.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FinSight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6473952"/>
            <a:ext cx="7498079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b="0" i="0" u="sng">
                <a:solidFill>
                  <a:srgbClr val="0E7490"/>
                </a:solidFill>
                <a:latin typeface="Calibri"/>
                <a:hlinkClick r:id="rId2"/>
              </a:rPr>
              <a:t>https://finsight-off.vercel.app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6  / 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7490"/>
                </a:solidFill>
                <a:latin typeface="Calibri"/>
              </a:rPr>
              <a:t>EASY TO SHOW A JUDGE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The same story, in five languages.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21488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688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English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691640"/>
            <a:ext cx="21488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87451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4688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Español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4920" y="1691640"/>
            <a:ext cx="21488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87451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FR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4688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Français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691640"/>
            <a:ext cx="21488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187451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4688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हिन्दी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691640"/>
            <a:ext cx="21488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187451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ZH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4688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中文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83280"/>
            <a:ext cx="361188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361188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Light and dark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" y="4434840"/>
            <a:ext cx="310896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82"/>
                </a:solidFill>
                <a:latin typeface="Calibri"/>
              </a:rPr>
              <a:t>Light is the default. Dark is one click. The chart lines stay readable in both.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61188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61188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live side chart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434840"/>
            <a:ext cx="310896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82"/>
                </a:solidFill>
                <a:latin typeface="Calibri"/>
              </a:rPr>
              <a:t>Change a collection date or cut marketing. The panel on the right redraws.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383280"/>
            <a:ext cx="361188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2" y="361188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check on the past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2" y="4434840"/>
            <a:ext cx="310896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B6B82"/>
                </a:solidFill>
                <a:latin typeface="Calibri"/>
              </a:rPr>
              <a:t>We hide recent days and compare the forecast with repeating last month.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FinSight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6473952"/>
            <a:ext cx="7498079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b="0" i="0" u="sng">
                <a:solidFill>
                  <a:srgbClr val="0E7490"/>
                </a:solidFill>
                <a:latin typeface="Calibri"/>
                <a:hlinkClick r:id="rId2"/>
              </a:rPr>
              <a:t>https://finsight-off.vercel.app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7  / 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E7B7"/>
                </a:solidFill>
                <a:latin typeface="Calibri"/>
              </a:rPr>
              <a:t>OPEN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demo is already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u="sng">
                <a:solidFill>
                  <a:srgbClr val="6EE7B7"/>
                </a:solidFill>
                <a:latin typeface="Calibri"/>
                <a:hlinkClick r:id="rId2"/>
              </a:rPr>
              <a:t>https://finsight-off.vercel.app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46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Try your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0E0"/>
                </a:solidFill>
                <a:latin typeface="Calibri"/>
              </a:rPr>
              <a:t>Add a bank CSV and an invoice CSV.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2976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 u="sng">
                <a:solidFill>
                  <a:srgbClr val="6EE7B7"/>
                </a:solidFill>
                <a:latin typeface="Calibri"/>
                <a:hlinkClick r:id="rId3"/>
              </a:rPr>
              <a:t>finsight-off.vercel.app/try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017520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246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See the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94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0E0"/>
                </a:solidFill>
                <a:latin typeface="Calibri"/>
              </a:rPr>
              <a:t>Harbor &amp; Co., then open the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76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 u="sng">
                <a:solidFill>
                  <a:srgbClr val="6EE7B7"/>
                </a:solidFill>
                <a:latin typeface="Calibri"/>
                <a:hlinkClick r:id="rId4"/>
              </a:rPr>
              <a:t>finsight-off.vercel.app/demo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0B8"/>
                </a:solidFill>
                <a:latin typeface="Calibri"/>
              </a:rPr>
              <a:t>Calculations under the stated assumptions, not a promise. The example is synthetic.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FinSight</dc:title>
  <dc:subject>Will you run out of cash?</dc:subject>
  <dc:creator>Nancy20052020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