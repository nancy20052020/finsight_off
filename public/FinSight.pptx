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Relationship Id="rId3" Type="http://schemas.openxmlformats.org/officeDocument/2006/relationships/hyperlink" Target="https://finsight-off.vercel.app/demo" TargetMode="External"/><Relationship Id="rId4" Type="http://schemas.openxmlformats.org/officeDocument/2006/relationships/hyperlink" Target="https://github.com/Nancy20052020/finsight_off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Relationship Id="rId3" Type="http://schemas.openxmlformats.org/officeDocument/2006/relationships/hyperlink" Target="https://github.com/Nancy20052020/finsight_of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9F6E"/>
                </a:solidFill>
                <a:latin typeface="Calibri"/>
              </a:rPr>
              <a:t>TRACK 3  ·  FINTECH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F172A"/>
                </a:solidFill>
                <a:latin typeface="Calibri"/>
              </a:rPr>
              <a:t>FinSight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4C63"/>
                </a:solidFill>
                <a:latin typeface="Calibri"/>
              </a:rPr>
              <a:t>Will you run out of cash before payday?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Amisha Singh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Manipal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24612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42900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Nancy Verma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977639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Manipal University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24612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42900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Team 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977639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Hackathon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F172A"/>
                </a:solidFill>
                <a:latin typeface="Calibri"/>
              </a:rPr>
              <a:t>Live demo   </a:t>
            </a:r>
            <a:r>
              <a:rPr sz="2000" b="1" i="0" u="sng">
                <a:solidFill>
                  <a:srgbClr val="0E7490"/>
                </a:solidFill>
                <a:latin typeface="Calibri"/>
                <a:hlinkClick r:id="rId2"/>
              </a:rPr>
              <a:t>https://finsight-off.vercel.app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3E4C63"/>
                </a:solidFill>
                <a:latin typeface="Calibri"/>
              </a:rPr>
              <a:t>Report figures are from the Harbor &amp; Co. synthetic books.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1  / 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9F6E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F172A"/>
                </a:solidFill>
                <a:latin typeface="Calibri"/>
              </a:rPr>
              <a:t>A firm can be owed money
and still miss payroll.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88036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F9F6E"/>
                </a:solidFill>
                <a:latin typeface="Calibri"/>
              </a:rPr>
              <a:t>51%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84048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of small employer firms said uneven cash flow was a challenge in the prior year.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88036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F9F6E"/>
                </a:solidFill>
                <a:latin typeface="Calibri"/>
              </a:rPr>
              <a:t>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384048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said the same about paying operating expenses such as payroll, rent, and inventory.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88036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F9F6E"/>
                </a:solidFill>
                <a:latin typeface="Calibri"/>
              </a:rPr>
              <a:t>39%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384048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in a later survey said one late payment made it hard to cover payroll or bills.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FinSight AI  ·  Team 65  ·  Manipal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6446520"/>
            <a:ext cx="31089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400" b="1" i="0" u="sng">
                <a:solidFill>
                  <a:srgbClr val="0E7490"/>
                </a:solidFill>
                <a:latin typeface="Calibri"/>
                <a:hlinkClick r:id="rId2"/>
              </a:rPr>
              <a:t>finsight-off.vercel.app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2  / 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9F6E"/>
                </a:solidFill>
                <a:latin typeface="Calibri"/>
              </a:rPr>
              <a:t>THE CASE IN THE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F172A"/>
                </a:solidFill>
                <a:latin typeface="Calibri"/>
              </a:rPr>
              <a:t>Harbor &amp; Co. looks busy and still runs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874519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USD 130,400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6060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4C63"/>
                </a:solidFill>
                <a:latin typeface="Calibri"/>
              </a:rPr>
              <a:t>Invoiced in 90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916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874519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USD 116,063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6060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4C63"/>
                </a:solidFill>
                <a:latin typeface="Calibri"/>
              </a:rPr>
              <a:t>Expenses in those 90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874519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USD 16,000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6060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4C63"/>
                </a:solidFill>
                <a:latin typeface="Calibri"/>
              </a:rPr>
              <a:t>Cash on 2 March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916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874519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23 March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26060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4C63"/>
                </a:solidFill>
                <a:latin typeface="Calibri"/>
              </a:rPr>
              <a:t>The day cash crosses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03320"/>
            <a:ext cx="11155680" cy="2194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Payroll of USD 22,000 lands on 23 March, before Brightline’s open invoice of USD 20,000 is expected to clear. Invoiced activity is higher than spending. Cash still hits zero. A 90-day invoice-versus-expense comparison does not show that gap.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FinSight AI  ·  Team 65  ·  Manipal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6446520"/>
            <a:ext cx="31089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400" b="1" i="0" u="sng">
                <a:solidFill>
                  <a:srgbClr val="0E7490"/>
                </a:solidFill>
                <a:latin typeface="Calibri"/>
                <a:hlinkClick r:id="rId2"/>
              </a:rPr>
              <a:t>finsight-off.vercel.app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3  / 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9F6E"/>
                </a:solidFill>
                <a:latin typeface="Calibri"/>
              </a:rPr>
              <a:t>WHAT FINSIGHT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Five answers. No chatbot.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4572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9F6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72768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Where you 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27632"/>
            <a:ext cx="6126480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Cash today, what was billed, what was collected, and what was spent.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95728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96896"/>
            <a:ext cx="4572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9F6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05456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What happens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560320"/>
            <a:ext cx="6126480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A 90-day path. Blue knows payday. Gold only repeats the last 30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28416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4572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9F6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38144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Why cash falls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493008"/>
            <a:ext cx="6126480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The scheduled item that takes the balance through zero.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61104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62272"/>
            <a:ext cx="4572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9F6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70832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Try a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425696"/>
            <a:ext cx="6126480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Move one collection date or cut one bill. The same engine recalculates.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93792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394960"/>
            <a:ext cx="4572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9F6E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0352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Was this right before?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358384"/>
            <a:ext cx="6126480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Hide recent days and compare both methods with what really happened.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FinSight AI  ·  Team 65  ·  Manipal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46520"/>
            <a:ext cx="31089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400" b="1" i="0" u="sng">
                <a:solidFill>
                  <a:srgbClr val="0E7490"/>
                </a:solidFill>
                <a:latin typeface="Calibri"/>
                <a:hlinkClick r:id="rId2"/>
              </a:rPr>
              <a:t>finsight-off.vercel.app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4  / 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9F6E"/>
                </a:solidFill>
                <a:latin typeface="Calibri"/>
              </a:rPr>
              <a:t>HOW IT SOLVES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F172A"/>
                </a:solidFill>
                <a:latin typeface="Calibri"/>
              </a:rPr>
              <a:t>Put bills on the calendar.
Do not just average last month.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0604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Last month, repeated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3154680" cy="1783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Extends the average daily net cash of the last 30 days. It does not place payroll, rent, the loan, or an open invoice on a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60604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8346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FinSight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749039"/>
            <a:ext cx="3154680" cy="1783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Starts from cash today. Rent, payroll, loan, and marketing stay on their usual days. Each open invoice is collected when that customer usually pays.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60604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8346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One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749039"/>
            <a:ext cx="3154680" cy="1783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The chart, the what-if, and the past check all call the same forecast. A scenario is not a second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FinSight AI  ·  Team 65  ·  Manipal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6446520"/>
            <a:ext cx="31089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400" b="1" i="0" u="sng">
                <a:solidFill>
                  <a:srgbClr val="0E7490"/>
                </a:solidFill>
                <a:latin typeface="Calibri"/>
                <a:hlinkClick r:id="rId2"/>
              </a:rPr>
              <a:t>finsight-off.vercel.app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5  / 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9F6E"/>
                </a:solidFill>
                <a:latin typeface="Calibri"/>
              </a:rPr>
              <a:t>FROM THE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On these books, the calendar wins.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9F6E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9F6E"/>
                </a:solidFill>
                <a:latin typeface="Calibri"/>
              </a:rPr>
              <a:t>FinSight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737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9F6E"/>
                </a:solidFill>
                <a:latin typeface="Calibri"/>
              </a:rPr>
              <a:t>Last month, repeated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Error on past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286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USD 2,819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286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USD 17,847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Holdout shortfall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529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23 January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529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23 January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1985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Early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41985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15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41985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Not flagged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86783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986783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6 weekly origins, 21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986783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Same origins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63"/>
                </a:solidFill>
                <a:latin typeface="Calibri"/>
              </a:rPr>
              <a:t>Payroll of USD 22,000 on 23 March 2026 is the item that takes cash through zero, to about USD −12,469. These numbers apply only to this synthetic protocol.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FinSight AI  ·  Team 65  ·  Manipal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6446520"/>
            <a:ext cx="31089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400" b="1" i="0" u="sng">
                <a:solidFill>
                  <a:srgbClr val="0E7490"/>
                </a:solidFill>
                <a:latin typeface="Calibri"/>
                <a:hlinkClick r:id="rId2"/>
              </a:rPr>
              <a:t>finsight-off.vercel.app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6  / 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9F6E"/>
                </a:solidFill>
                <a:latin typeface="Calibri"/>
              </a:rPr>
              <a:t>A CHANGE YOU CAN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Move one payment. Cut one bill.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Base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63"/>
                </a:solidFill>
                <a:latin typeface="Calibri"/>
              </a:rPr>
              <a:t>Shortfall on 23 March 2026. Lowest cash in 30 days is about USD −15,771.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Collect BR-109 on 12 March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63"/>
                </a:solidFill>
                <a:latin typeface="Calibri"/>
              </a:rPr>
              <a:t>Shortfall moves to 1 April 2026. The 30-day low rises by about USD 14,934 and is still slightly negative.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2628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9087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Also cut March 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66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63"/>
                </a:solidFill>
                <a:latin typeface="Calibri"/>
              </a:rPr>
              <a:t>With a 100 percent cut, the shortfall is 10 April 2026 and the 30-day low is USD 1,562.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FinSight AI  ·  Team 65  ·  Manipal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6446520"/>
            <a:ext cx="31089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400" b="1" i="0" u="sng">
                <a:solidFill>
                  <a:srgbClr val="0E7490"/>
                </a:solidFill>
                <a:latin typeface="Calibri"/>
                <a:hlinkClick r:id="rId2"/>
              </a:rPr>
              <a:t>finsight-off.vercel.app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7  / 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9F6E"/>
                </a:solidFill>
                <a:latin typeface="Calibri"/>
              </a:rPr>
              <a:t>OPEN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F172A"/>
                </a:solidFill>
                <a:latin typeface="Calibri"/>
              </a:rPr>
              <a:t>The demo is already live.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Live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The forecast, the example, and the upload.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u="sng">
                <a:solidFill>
                  <a:srgbClr val="0E7490"/>
                </a:solidFill>
                <a:latin typeface="Calibri"/>
                <a:hlinkClick r:id="rId2"/>
              </a:rPr>
              <a:t>finsight-off.vercel.app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74519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2316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Harbor &amp; Co. Open the rows behind the chart.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u="sng">
                <a:solidFill>
                  <a:srgbClr val="0E7490"/>
                </a:solidFill>
                <a:latin typeface="Calibri"/>
                <a:hlinkClick r:id="rId3"/>
              </a:rPr>
              <a:t>finsight-off.vercel.app/demo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459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74519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2316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63"/>
                </a:solidFill>
                <a:latin typeface="Calibri"/>
              </a:rPr>
              <a:t>The report, the deck, and the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u="sng">
                <a:solidFill>
                  <a:srgbClr val="0E7490"/>
                </a:solidFill>
                <a:latin typeface="Calibri"/>
                <a:hlinkClick r:id="rId4"/>
              </a:rPr>
              <a:t>github.com/Nancy20052020/finsight_off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63"/>
                </a:solidFill>
                <a:latin typeface="Calibri"/>
              </a:rPr>
              <a:t>Upload needs both files: a bank CSV and an invoice CSV. If one is missing, the page says so. Nothing is stored. The example is synthetic. These are calculations, not a promise.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FinSight AI  ·  Team 65  ·  Manipal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6446520"/>
            <a:ext cx="31089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400" b="1" i="0" u="sng">
                <a:solidFill>
                  <a:srgbClr val="0E7490"/>
                </a:solidFill>
                <a:latin typeface="Calibri"/>
                <a:hlinkClick r:id="rId2"/>
              </a:rPr>
              <a:t>finsight-off.vercel.app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4C63"/>
                </a:solidFill>
                <a:latin typeface="Calibri"/>
              </a:rPr>
              <a:t>8  /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5D0E0"/>
                </a:solidFill>
                <a:latin typeface="Calibri"/>
              </a:rPr>
              <a:t>Team 65  ·  Manipal University  ·  Track 3, FinTech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Amisha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200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Nancy Verma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5D0E0"/>
                </a:solidFill>
                <a:latin typeface="Calibri"/>
              </a:rPr>
              <a:t>Live site    </a:t>
            </a:r>
            <a:r>
              <a:rPr sz="2200" b="1" i="0" u="sng">
                <a:solidFill>
                  <a:srgbClr val="6EE7B7"/>
                </a:solidFill>
                <a:latin typeface="Calibri"/>
                <a:hlinkClick r:id="rId2"/>
              </a:rPr>
              <a:t>finsight-off.vercel.app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C5D0E0"/>
                </a:solidFill>
                <a:latin typeface="Calibri"/>
              </a:rPr>
              <a:t>GitHub    </a:t>
            </a:r>
            <a:r>
              <a:rPr sz="2200" b="1" i="0" u="sng">
                <a:solidFill>
                  <a:srgbClr val="6EE7B7"/>
                </a:solidFill>
                <a:latin typeface="Calibri"/>
                <a:hlinkClick r:id="rId3"/>
              </a:rPr>
              <a:t>github.com/Nancy20052020/finsight_off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3A0B8"/>
                </a:solidFill>
                <a:latin typeface="Calibri"/>
              </a:rPr>
              <a:t>9  /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FinSight AI — Team 65</dc:title>
  <dc:subject>Track 3: FinTech AI</dc:subject>
  <dc:creator>Amisha Singh and Nancy Verma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