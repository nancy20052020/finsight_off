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finsight-off.vercel.app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finsight-off.vercel.app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finsight-off.vercel.app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finsight-off.vercel.app" TargetMode="Externa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finsight-off.vercel.app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finsight-off.vercel.app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finsight-off.vercel.app" TargetMode="Externa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finsight-off.vercel.app" TargetMode="External"/><Relationship Id="rId3" Type="http://schemas.openxmlformats.org/officeDocument/2006/relationships/hyperlink" Target="https://finsight-off.vercel.app/demo" TargetMode="External"/><Relationship Id="rId4" Type="http://schemas.openxmlformats.org/officeDocument/2006/relationships/hyperlink" Target="https://github.com/Nancy20052020/finsight_off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finsight-off.vercel.app" TargetMode="External"/><Relationship Id="rId3" Type="http://schemas.openxmlformats.org/officeDocument/2006/relationships/hyperlink" Target="https://github.com/Nancy20052020/finsight_off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08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4709160" y="0"/>
            <a:ext cx="73152" cy="6858000"/>
          </a:xfrm>
          <a:prstGeom prst="rect">
            <a:avLst/>
          </a:prstGeom>
          <a:solidFill>
            <a:srgbClr val="C4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11480" y="1234440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Nancy Verma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965960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Amisha Singh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2788920"/>
            <a:ext cx="1463040" cy="54864"/>
          </a:xfrm>
          <a:prstGeom prst="rect">
            <a:avLst/>
          </a:prstGeom>
          <a:solidFill>
            <a:srgbClr val="C4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11480" y="3017520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4922A"/>
                </a:solidFill>
                <a:latin typeface="Calibri"/>
                <a:cs typeface="Calibri"/>
                <a:ea typeface="Calibri"/>
              </a:rPr>
              <a:t>Manipal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52044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Team 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393192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5D0DC"/>
                </a:solidFill>
                <a:latin typeface="Calibri"/>
                <a:cs typeface="Calibri"/>
                <a:ea typeface="Calibri"/>
              </a:rPr>
              <a:t>Hackathon 4.0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417320"/>
            <a:ext cx="658368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4922A"/>
                </a:solidFill>
                <a:latin typeface="Calibri"/>
                <a:cs typeface="Calibri"/>
                <a:ea typeface="Calibri"/>
              </a:rPr>
              <a:t>TRACK 3   ·   FINTECH AI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1965960"/>
            <a:ext cx="658368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FinSight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3154680"/>
            <a:ext cx="658368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0" i="0">
                <a:solidFill>
                  <a:srgbClr val="E7F3EE"/>
                </a:solidFill>
                <a:latin typeface="Calibri"/>
                <a:cs typeface="Calibri"/>
                <a:ea typeface="Calibri"/>
              </a:rPr>
              <a:t>Will you run out of cash before payday?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4892040"/>
            <a:ext cx="65836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5D0DC"/>
                </a:solidFill>
                <a:latin typeface="Calibri"/>
                <a:cs typeface="Calibri"/>
                <a:ea typeface="Calibri"/>
              </a:rPr>
              <a:t>Live site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5230368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4922A"/>
                </a:solidFill>
                <a:latin typeface="Calibri"/>
                <a:cs typeface="Calibri"/>
                <a:ea typeface="Calibri"/>
                <a:u val="none"/>
                <a:hlinkClick r:id="rId2"/>
              </a:rPr>
              <a:t>finsight-off.vercel.app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40080" y="384048"/>
            <a:ext cx="384048" cy="73152"/>
          </a:xfrm>
          <a:prstGeom prst="rect">
            <a:avLst/>
          </a:prstGeom>
          <a:solidFill>
            <a:srgbClr val="C4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43000" y="256032"/>
            <a:ext cx="91440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C6E56"/>
                </a:solidFill>
                <a:latin typeface="Calibri"/>
                <a:cs typeface="Calibri"/>
                <a:ea typeface="Calibri"/>
              </a:rPr>
              <a:t>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1097280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142033"/>
                </a:solidFill>
                <a:latin typeface="Calibri"/>
                <a:cs typeface="Calibri"/>
                <a:ea typeface="Calibri"/>
              </a:rPr>
              <a:t>A firm can be owed money
and still miss payroll.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148840"/>
            <a:ext cx="10881360" cy="1115568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40080" y="2148840"/>
            <a:ext cx="91440" cy="1115568"/>
          </a:xfrm>
          <a:prstGeom prst="rect">
            <a:avLst/>
          </a:prstGeom>
          <a:solidFill>
            <a:srgbClr val="0C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0120" y="2404872"/>
            <a:ext cx="196596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C6E56"/>
                </a:solidFill>
                <a:latin typeface="Calibri"/>
                <a:cs typeface="Calibri"/>
                <a:ea typeface="Calibri"/>
              </a:rPr>
              <a:t>51%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2313432"/>
            <a:ext cx="8138160" cy="8046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42033"/>
                </a:solidFill>
                <a:latin typeface="Calibri"/>
                <a:cs typeface="Calibri"/>
                <a:ea typeface="Calibri"/>
              </a:rPr>
              <a:t>of small employer firms said uneven cash flow was a challenge in the prior year.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410712"/>
            <a:ext cx="10881360" cy="1115568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40080" y="3410712"/>
            <a:ext cx="91440" cy="1115568"/>
          </a:xfrm>
          <a:prstGeom prst="rect">
            <a:avLst/>
          </a:prstGeom>
          <a:solidFill>
            <a:srgbClr val="0C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60120" y="3666744"/>
            <a:ext cx="196596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C6E56"/>
                </a:solidFill>
                <a:latin typeface="Calibri"/>
                <a:cs typeface="Calibri"/>
                <a:ea typeface="Calibri"/>
              </a:rPr>
              <a:t>56%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3575304"/>
            <a:ext cx="8138160" cy="8046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42033"/>
                </a:solidFill>
                <a:latin typeface="Calibri"/>
                <a:cs typeface="Calibri"/>
                <a:ea typeface="Calibri"/>
              </a:rPr>
              <a:t>said the same about paying operating expenses such as payroll, rent, and inventory.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672583"/>
            <a:ext cx="10881360" cy="1115568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40080" y="4672583"/>
            <a:ext cx="91440" cy="1115568"/>
          </a:xfrm>
          <a:prstGeom prst="rect">
            <a:avLst/>
          </a:prstGeom>
          <a:solidFill>
            <a:srgbClr val="0C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0120" y="4928616"/>
            <a:ext cx="1965960" cy="64008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>
                <a:solidFill>
                  <a:srgbClr val="0C6E56"/>
                </a:solidFill>
                <a:latin typeface="Calibri"/>
                <a:cs typeface="Calibri"/>
                <a:ea typeface="Calibri"/>
              </a:rPr>
              <a:t>39%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17520" y="4837175"/>
            <a:ext cx="8138160" cy="80467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142033"/>
                </a:solidFill>
                <a:latin typeface="Calibri"/>
                <a:cs typeface="Calibri"/>
                <a:ea typeface="Calibri"/>
              </a:rPr>
              <a:t>said one late payment in the past year made it hard to cover payroll or bills.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989320"/>
            <a:ext cx="108813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3E4C5E"/>
                </a:solidFill>
                <a:latin typeface="Calibri"/>
                <a:cs typeface="Calibri"/>
                <a:ea typeface="Calibri"/>
              </a:rPr>
              <a:t>From the report. Federal Reserve Small Business Credit Survey and Intuit QuickBooks. These are other firms, not Harbor &amp; Co.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65836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4C5E"/>
                </a:solidFill>
                <a:latin typeface="Calibri"/>
                <a:cs typeface="Calibri"/>
                <a:ea typeface="Calibri"/>
              </a:rPr>
              <a:t>FinSight AI   ·   Team 65   ·   Manipal University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644652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C6E56"/>
                </a:solidFill>
                <a:latin typeface="Calibri"/>
                <a:cs typeface="Calibri"/>
                <a:ea typeface="Calibri"/>
                <a:u val="none"/>
                <a:hlinkClick r:id="rId2"/>
              </a:rPr>
              <a:t>finsight-off.vercel.app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446520"/>
            <a:ext cx="10515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4C5E"/>
                </a:solidFill>
                <a:latin typeface="Calibri"/>
                <a:cs typeface="Calibri"/>
                <a:ea typeface="Calibri"/>
              </a:rPr>
              <a:t>2  / 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40080" y="384048"/>
            <a:ext cx="384048" cy="73152"/>
          </a:xfrm>
          <a:prstGeom prst="rect">
            <a:avLst/>
          </a:prstGeom>
          <a:solidFill>
            <a:srgbClr val="C4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43000" y="256032"/>
            <a:ext cx="91440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C6E56"/>
                </a:solidFill>
                <a:latin typeface="Calibri"/>
                <a:cs typeface="Calibri"/>
                <a:ea typeface="Calibri"/>
              </a:rPr>
              <a:t>THE CASE IN THE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10972800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42033"/>
                </a:solidFill>
                <a:latin typeface="Calibri"/>
                <a:cs typeface="Calibri"/>
                <a:ea typeface="Calibri"/>
              </a:rPr>
              <a:t>Harbor &amp; Co. looks busy and still runs out.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737360"/>
            <a:ext cx="5394960" cy="1389888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14400" y="1938528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C6E56"/>
                </a:solidFill>
                <a:latin typeface="Calibri"/>
                <a:cs typeface="Calibri"/>
                <a:ea typeface="Calibri"/>
              </a:rPr>
              <a:t>USD 130,400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42032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42033"/>
                </a:solidFill>
                <a:latin typeface="Calibri"/>
                <a:cs typeface="Calibri"/>
                <a:ea typeface="Calibri"/>
              </a:rPr>
              <a:t>Invoiced in the last 90 days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737360"/>
            <a:ext cx="5394960" cy="1389888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37960" y="1938528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C6E56"/>
                </a:solidFill>
                <a:latin typeface="Calibri"/>
                <a:cs typeface="Calibri"/>
                <a:ea typeface="Calibri"/>
              </a:rPr>
              <a:t>USD 116,063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542032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42033"/>
                </a:solidFill>
                <a:latin typeface="Calibri"/>
                <a:cs typeface="Calibri"/>
                <a:ea typeface="Calibri"/>
              </a:rPr>
              <a:t>Expenses in those 90 days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3291839"/>
            <a:ext cx="5394960" cy="1389888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14400" y="3493008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C6E56"/>
                </a:solidFill>
                <a:latin typeface="Calibri"/>
                <a:cs typeface="Calibri"/>
                <a:ea typeface="Calibri"/>
              </a:rPr>
              <a:t>USD 16,000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96511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42033"/>
                </a:solidFill>
                <a:latin typeface="Calibri"/>
                <a:cs typeface="Calibri"/>
                <a:ea typeface="Calibri"/>
              </a:rPr>
              <a:t>Cash on 2 March 2026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63640" y="3291839"/>
            <a:ext cx="5394960" cy="1389888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537960" y="3493008"/>
            <a:ext cx="484632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0C6E56"/>
                </a:solidFill>
                <a:latin typeface="Calibri"/>
                <a:cs typeface="Calibri"/>
                <a:ea typeface="Calibri"/>
              </a:rPr>
              <a:t>23 March 2026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4096511"/>
            <a:ext cx="484632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42033"/>
                </a:solidFill>
                <a:latin typeface="Calibri"/>
                <a:cs typeface="Calibri"/>
                <a:ea typeface="Calibri"/>
              </a:rPr>
              <a:t>The day cash crosses zero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983480"/>
            <a:ext cx="10881360" cy="8686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42033"/>
                </a:solidFill>
                <a:latin typeface="Calibri"/>
                <a:cs typeface="Calibri"/>
                <a:ea typeface="Calibri"/>
              </a:rPr>
              <a:t>Payroll of USD 22,000 lands on 23 March, before Brightline’s open invoice of USD 20,000 is expected. Invoiced activity is higher than spending. Cash still hits zero.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65836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4C5E"/>
                </a:solidFill>
                <a:latin typeface="Calibri"/>
                <a:cs typeface="Calibri"/>
                <a:ea typeface="Calibri"/>
              </a:rPr>
              <a:t>FinSight AI   ·   Team 65   ·   Manipal University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644652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C6E56"/>
                </a:solidFill>
                <a:latin typeface="Calibri"/>
                <a:cs typeface="Calibri"/>
                <a:ea typeface="Calibri"/>
                <a:u val="none"/>
                <a:hlinkClick r:id="rId2"/>
              </a:rPr>
              <a:t>finsight-off.vercel.app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446520"/>
            <a:ext cx="10515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4C5E"/>
                </a:solidFill>
                <a:latin typeface="Calibri"/>
                <a:cs typeface="Calibri"/>
                <a:ea typeface="Calibri"/>
              </a:rPr>
              <a:t>3  / 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40080" y="384048"/>
            <a:ext cx="384048" cy="73152"/>
          </a:xfrm>
          <a:prstGeom prst="rect">
            <a:avLst/>
          </a:prstGeom>
          <a:solidFill>
            <a:srgbClr val="C4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43000" y="256032"/>
            <a:ext cx="91440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C6E56"/>
                </a:solidFill>
                <a:latin typeface="Calibri"/>
                <a:cs typeface="Calibri"/>
                <a:ea typeface="Calibri"/>
              </a:rPr>
              <a:t>WHAT FINSIGHT DOES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42033"/>
                </a:solidFill>
                <a:latin typeface="Calibri"/>
                <a:cs typeface="Calibri"/>
                <a:ea typeface="Calibri"/>
              </a:rPr>
              <a:t>Five answers. No chatbot.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463040"/>
            <a:ext cx="10881360" cy="841248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60" y="1627632"/>
            <a:ext cx="502920" cy="5120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C6E56"/>
                </a:solidFill>
                <a:latin typeface="Calibri"/>
                <a:cs typeface="Calibri"/>
                <a:ea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1609344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2033"/>
                </a:solidFill>
                <a:latin typeface="Calibri"/>
                <a:cs typeface="Calibri"/>
                <a:ea typeface="Calibri"/>
              </a:rPr>
              <a:t>Where you stand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1591056"/>
            <a:ext cx="576072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E4C5E"/>
                </a:solidFill>
                <a:latin typeface="Calibri"/>
                <a:cs typeface="Calibri"/>
                <a:ea typeface="Calibri"/>
              </a:rPr>
              <a:t>Cash today, what was billed, what was collected, and what was spent.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395728"/>
            <a:ext cx="10881360" cy="841248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60" y="2560320"/>
            <a:ext cx="502920" cy="5120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C6E56"/>
                </a:solidFill>
                <a:latin typeface="Calibri"/>
                <a:cs typeface="Calibri"/>
                <a:ea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2542032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2033"/>
                </a:solidFill>
                <a:latin typeface="Calibri"/>
                <a:cs typeface="Calibri"/>
                <a:ea typeface="Calibri"/>
              </a:rPr>
              <a:t>What happens next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523744"/>
            <a:ext cx="576072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E4C5E"/>
                </a:solidFill>
                <a:latin typeface="Calibri"/>
                <a:cs typeface="Calibri"/>
                <a:ea typeface="Calibri"/>
              </a:rPr>
              <a:t>A 90-day path. It knows payday. The other line only repeats the last 30 days.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3328416"/>
            <a:ext cx="10881360" cy="841248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22960" y="3493008"/>
            <a:ext cx="502920" cy="5120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C6E56"/>
                </a:solidFill>
                <a:latin typeface="Calibri"/>
                <a:cs typeface="Calibri"/>
                <a:ea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63040" y="347472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2033"/>
                </a:solidFill>
                <a:latin typeface="Calibri"/>
                <a:cs typeface="Calibri"/>
                <a:ea typeface="Calibri"/>
              </a:rPr>
              <a:t>Why cash falls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3456432"/>
            <a:ext cx="576072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E4C5E"/>
                </a:solidFill>
                <a:latin typeface="Calibri"/>
                <a:cs typeface="Calibri"/>
                <a:ea typeface="Calibri"/>
              </a:rPr>
              <a:t>The scheduled item that takes the balance through zero.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4261104"/>
            <a:ext cx="10881360" cy="841248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22960" y="4425696"/>
            <a:ext cx="502920" cy="5120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C6E56"/>
                </a:solidFill>
                <a:latin typeface="Calibri"/>
                <a:cs typeface="Calibri"/>
                <a:ea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63040" y="4407408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2033"/>
                </a:solidFill>
                <a:latin typeface="Calibri"/>
                <a:cs typeface="Calibri"/>
                <a:ea typeface="Calibri"/>
              </a:rPr>
              <a:t>Try a change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0" y="4389120"/>
            <a:ext cx="576072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E4C5E"/>
                </a:solidFill>
                <a:latin typeface="Calibri"/>
                <a:cs typeface="Calibri"/>
                <a:ea typeface="Calibri"/>
              </a:rPr>
              <a:t>Move one collection date or cut one bill. The same engine recalculates.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5193792"/>
            <a:ext cx="10881360" cy="841248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822960" y="5358383"/>
            <a:ext cx="502920" cy="512064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0C6E56"/>
                </a:solidFill>
                <a:latin typeface="Calibri"/>
                <a:cs typeface="Calibri"/>
                <a:ea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63040" y="5340096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142033"/>
                </a:solidFill>
                <a:latin typeface="Calibri"/>
                <a:cs typeface="Calibri"/>
                <a:ea typeface="Calibri"/>
              </a:rPr>
              <a:t>Was this right before?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0" y="5321807"/>
            <a:ext cx="5760720" cy="585216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E4C5E"/>
                </a:solidFill>
                <a:latin typeface="Calibri"/>
                <a:cs typeface="Calibri"/>
                <a:ea typeface="Calibri"/>
              </a:rPr>
              <a:t>Hide recent days and compare both methods with what really happened.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46520"/>
            <a:ext cx="65836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4C5E"/>
                </a:solidFill>
                <a:latin typeface="Calibri"/>
                <a:cs typeface="Calibri"/>
                <a:ea typeface="Calibri"/>
              </a:rPr>
              <a:t>FinSight AI   ·   Team 65   ·   Manipal University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0" y="644652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C6E56"/>
                </a:solidFill>
                <a:latin typeface="Calibri"/>
                <a:cs typeface="Calibri"/>
                <a:ea typeface="Calibri"/>
                <a:u val="none"/>
                <a:hlinkClick r:id="rId2"/>
              </a:rPr>
              <a:t>finsight-off.vercel.app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698480" y="6446520"/>
            <a:ext cx="10515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4C5E"/>
                </a:solidFill>
                <a:latin typeface="Calibri"/>
                <a:cs typeface="Calibri"/>
                <a:ea typeface="Calibri"/>
              </a:rPr>
              <a:t>4  / 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40080" y="384048"/>
            <a:ext cx="384048" cy="73152"/>
          </a:xfrm>
          <a:prstGeom prst="rect">
            <a:avLst/>
          </a:prstGeom>
          <a:solidFill>
            <a:srgbClr val="C4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43000" y="256032"/>
            <a:ext cx="91440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C6E56"/>
                </a:solidFill>
                <a:latin typeface="Calibri"/>
                <a:cs typeface="Calibri"/>
                <a:ea typeface="Calibri"/>
              </a:rPr>
              <a:t>HOW IT SOLVES THE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1097280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42033"/>
                </a:solidFill>
                <a:latin typeface="Calibri"/>
                <a:cs typeface="Calibri"/>
                <a:ea typeface="Calibri"/>
              </a:rPr>
              <a:t>Put the bills on the calendar.
Do not just repeat last month.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2697480"/>
            <a:ext cx="5349240" cy="246888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96112" y="288036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3E4C5E"/>
                </a:solidFill>
                <a:latin typeface="Calibri"/>
                <a:cs typeface="Calibri"/>
                <a:ea typeface="Calibri"/>
              </a:rPr>
              <a:t>Last month, repeated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3429000"/>
            <a:ext cx="484632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42033"/>
                </a:solidFill>
                <a:latin typeface="Calibri"/>
                <a:cs typeface="Calibri"/>
                <a:ea typeface="Calibri"/>
              </a:rPr>
              <a:t>Extends the average daily net cash of the last 30 days. It does not place payroll, rent, the loan, or an open invoice on a date.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72200" y="2697480"/>
            <a:ext cx="5349240" cy="2468880"/>
          </a:xfrm>
          <a:prstGeom prst="rect">
            <a:avLst/>
          </a:prstGeom>
          <a:solidFill>
            <a:srgbClr val="0B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46520" y="288036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4922A"/>
                </a:solidFill>
                <a:latin typeface="Calibri"/>
                <a:cs typeface="Calibri"/>
                <a:ea typeface="Calibri"/>
              </a:rPr>
              <a:t>FinSight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3429000"/>
            <a:ext cx="4846320" cy="14630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Starts from cash today. Rent, payroll, the loan, and marketing stay on their usual days. Each open invoice is collected when that customer usually pays.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49240"/>
            <a:ext cx="108813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C6E56"/>
                </a:solidFill>
                <a:latin typeface="Calibri"/>
                <a:cs typeface="Calibri"/>
                <a:ea typeface="Calibri"/>
              </a:rPr>
              <a:t>One engine. The chart, the what-if, and the past check all call the same forecast.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6446520"/>
            <a:ext cx="65836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4C5E"/>
                </a:solidFill>
                <a:latin typeface="Calibri"/>
                <a:cs typeface="Calibri"/>
                <a:ea typeface="Calibri"/>
              </a:rPr>
              <a:t>FinSight AI   ·   Team 65   ·   Manipal University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644652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C6E56"/>
                </a:solidFill>
                <a:latin typeface="Calibri"/>
                <a:cs typeface="Calibri"/>
                <a:ea typeface="Calibri"/>
                <a:u val="none"/>
                <a:hlinkClick r:id="rId2"/>
              </a:rPr>
              <a:t>finsight-off.vercel.app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46520"/>
            <a:ext cx="10515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4C5E"/>
                </a:solidFill>
                <a:latin typeface="Calibri"/>
                <a:cs typeface="Calibri"/>
                <a:ea typeface="Calibri"/>
              </a:rPr>
              <a:t>5  / 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40080" y="384048"/>
            <a:ext cx="384048" cy="73152"/>
          </a:xfrm>
          <a:prstGeom prst="rect">
            <a:avLst/>
          </a:prstGeom>
          <a:solidFill>
            <a:srgbClr val="C4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43000" y="256032"/>
            <a:ext cx="91440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C6E56"/>
                </a:solidFill>
                <a:latin typeface="Calibri"/>
                <a:cs typeface="Calibri"/>
                <a:ea typeface="Calibri"/>
              </a:rPr>
              <a:t>FROM THE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42033"/>
                </a:solidFill>
                <a:latin typeface="Calibri"/>
                <a:cs typeface="Calibri"/>
                <a:ea typeface="Calibri"/>
              </a:rPr>
              <a:t>On these books, the calendar wins.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554480"/>
            <a:ext cx="10881360" cy="306324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160520" y="1691640"/>
            <a:ext cx="347472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0C6E56"/>
                </a:solidFill>
                <a:latin typeface="Calibri"/>
                <a:cs typeface="Calibri"/>
                <a:ea typeface="Calibri"/>
              </a:rPr>
              <a:t>FinSight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955279" y="1691640"/>
            <a:ext cx="329184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3E4C5E"/>
                </a:solidFill>
                <a:latin typeface="Calibri"/>
                <a:cs typeface="Calibri"/>
                <a:ea typeface="Calibri"/>
              </a:rPr>
              <a:t>Last month, repeated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19456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033"/>
                </a:solidFill>
                <a:latin typeface="Calibri"/>
                <a:cs typeface="Calibri"/>
                <a:ea typeface="Calibri"/>
              </a:rPr>
              <a:t>Error on past days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160520" y="219456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C6E56"/>
                </a:solidFill>
                <a:latin typeface="Calibri"/>
                <a:cs typeface="Calibri"/>
                <a:ea typeface="Calibri"/>
              </a:rPr>
              <a:t>USD 2,819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219456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3E4C5E"/>
                </a:solidFill>
                <a:latin typeface="Calibri"/>
                <a:cs typeface="Calibri"/>
                <a:ea typeface="Calibri"/>
              </a:rPr>
              <a:t>USD 17,847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743200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033"/>
                </a:solidFill>
                <a:latin typeface="Calibri"/>
                <a:cs typeface="Calibri"/>
                <a:ea typeface="Calibri"/>
              </a:rPr>
              <a:t>Holdout shortfall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743200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C6E56"/>
                </a:solidFill>
                <a:latin typeface="Calibri"/>
                <a:cs typeface="Calibri"/>
                <a:ea typeface="Calibri"/>
              </a:rPr>
              <a:t>23 January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2743200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3E4C5E"/>
                </a:solidFill>
                <a:latin typeface="Calibri"/>
                <a:cs typeface="Calibri"/>
                <a:ea typeface="Calibri"/>
              </a:rPr>
              <a:t>23 January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291839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033"/>
                </a:solidFill>
                <a:latin typeface="Calibri"/>
                <a:cs typeface="Calibri"/>
                <a:ea typeface="Calibri"/>
              </a:rPr>
              <a:t>Early warning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60520" y="3291839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C6E56"/>
                </a:solidFill>
                <a:latin typeface="Calibri"/>
                <a:cs typeface="Calibri"/>
                <a:ea typeface="Calibri"/>
              </a:rPr>
              <a:t>15 days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3291839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3E4C5E"/>
                </a:solidFill>
                <a:latin typeface="Calibri"/>
                <a:cs typeface="Calibri"/>
                <a:ea typeface="Calibri"/>
              </a:rPr>
              <a:t>Not flagged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3840479"/>
            <a:ext cx="31089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142033"/>
                </a:solidFill>
                <a:latin typeface="Calibri"/>
                <a:cs typeface="Calibri"/>
                <a:ea typeface="Calibri"/>
              </a:rPr>
              <a:t>Test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160520" y="3840479"/>
            <a:ext cx="347472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0C6E56"/>
                </a:solidFill>
                <a:latin typeface="Calibri"/>
                <a:cs typeface="Calibri"/>
                <a:ea typeface="Calibri"/>
              </a:rPr>
              <a:t>6 origins, 21 days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3840479"/>
            <a:ext cx="329184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3E4C5E"/>
                </a:solidFill>
                <a:latin typeface="Calibri"/>
                <a:cs typeface="Calibri"/>
                <a:ea typeface="Calibri"/>
              </a:rPr>
              <a:t>Same origins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800600"/>
            <a:ext cx="1088136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142033"/>
                </a:solidFill>
                <a:latin typeface="Calibri"/>
                <a:cs typeface="Calibri"/>
                <a:ea typeface="Calibri"/>
              </a:rPr>
              <a:t>Payroll of USD 22,000 on 23 March 2026 is the item that takes cash through zero, to about USD −12,469. These numbers apply only to this synthetic protocol.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446520"/>
            <a:ext cx="65836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4C5E"/>
                </a:solidFill>
                <a:latin typeface="Calibri"/>
                <a:cs typeface="Calibri"/>
                <a:ea typeface="Calibri"/>
              </a:rPr>
              <a:t>FinSight AI   ·   Team 65   ·   Manipal University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0" y="644652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C6E56"/>
                </a:solidFill>
                <a:latin typeface="Calibri"/>
                <a:cs typeface="Calibri"/>
                <a:ea typeface="Calibri"/>
                <a:u val="none"/>
                <a:hlinkClick r:id="rId2"/>
              </a:rPr>
              <a:t>finsight-off.vercel.app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698480" y="6446520"/>
            <a:ext cx="10515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4C5E"/>
                </a:solidFill>
                <a:latin typeface="Calibri"/>
                <a:cs typeface="Calibri"/>
                <a:ea typeface="Calibri"/>
              </a:rPr>
              <a:t>6  / 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40080" y="384048"/>
            <a:ext cx="384048" cy="73152"/>
          </a:xfrm>
          <a:prstGeom prst="rect">
            <a:avLst/>
          </a:prstGeom>
          <a:solidFill>
            <a:srgbClr val="C4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43000" y="256032"/>
            <a:ext cx="91440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C6E56"/>
                </a:solidFill>
                <a:latin typeface="Calibri"/>
                <a:cs typeface="Calibri"/>
                <a:ea typeface="Calibri"/>
              </a:rPr>
              <a:t>A CHANGE YOU CAN 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200" b="1" i="0">
                <a:solidFill>
                  <a:srgbClr val="142033"/>
                </a:solidFill>
                <a:latin typeface="Calibri"/>
                <a:cs typeface="Calibri"/>
                <a:ea typeface="Calibri"/>
              </a:rPr>
              <a:t>Move one payment. Cut one bill.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10881360" cy="132588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640080" y="1600200"/>
            <a:ext cx="91440" cy="1325880"/>
          </a:xfrm>
          <a:prstGeom prst="rect">
            <a:avLst/>
          </a:prstGeom>
          <a:solidFill>
            <a:srgbClr val="0C6E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005840" y="1746504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42033"/>
                </a:solidFill>
                <a:latin typeface="Calibri"/>
                <a:cs typeface="Calibri"/>
                <a:ea typeface="Calibri"/>
              </a:rPr>
              <a:t>Base path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2185416"/>
            <a:ext cx="1014984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3E4C5E"/>
                </a:solidFill>
                <a:latin typeface="Calibri"/>
                <a:cs typeface="Calibri"/>
                <a:ea typeface="Calibri"/>
              </a:rPr>
              <a:t>Shortfall on 23 March 2026. Lowest cash in 30 days is about USD −15,771.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3063240"/>
            <a:ext cx="10881360" cy="132588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40080" y="3063240"/>
            <a:ext cx="91440" cy="1325880"/>
          </a:xfrm>
          <a:prstGeom prst="rect">
            <a:avLst/>
          </a:prstGeom>
          <a:solidFill>
            <a:srgbClr val="C4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005840" y="3209544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42033"/>
                </a:solidFill>
                <a:latin typeface="Calibri"/>
                <a:cs typeface="Calibri"/>
                <a:ea typeface="Calibri"/>
              </a:rPr>
              <a:t>Collect BR-109 on 12 March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05840" y="3648456"/>
            <a:ext cx="1014984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3E4C5E"/>
                </a:solidFill>
                <a:latin typeface="Calibri"/>
                <a:cs typeface="Calibri"/>
                <a:ea typeface="Calibri"/>
              </a:rPr>
              <a:t>Shortfall moves to 1 April 2026. The 30-day low rises by about USD 14,934 and is still slightly negative.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526280"/>
            <a:ext cx="10881360" cy="132588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640080" y="4526280"/>
            <a:ext cx="91440" cy="1325880"/>
          </a:xfrm>
          <a:prstGeom prst="rect">
            <a:avLst/>
          </a:prstGeom>
          <a:solidFill>
            <a:srgbClr val="C4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05840" y="4672584"/>
            <a:ext cx="10149840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42033"/>
                </a:solidFill>
                <a:latin typeface="Calibri"/>
                <a:cs typeface="Calibri"/>
                <a:ea typeface="Calibri"/>
              </a:rPr>
              <a:t>Also cut March marketing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111496"/>
            <a:ext cx="10149840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3E4C5E"/>
                </a:solidFill>
                <a:latin typeface="Calibri"/>
                <a:cs typeface="Calibri"/>
                <a:ea typeface="Calibri"/>
              </a:rPr>
              <a:t>With a 100 percent cut, the shortfall is 10 April 2026 and the 30-day low is USD 1,562.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65836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4C5E"/>
                </a:solidFill>
                <a:latin typeface="Calibri"/>
                <a:cs typeface="Calibri"/>
                <a:ea typeface="Calibri"/>
              </a:rPr>
              <a:t>FinSight AI   ·   Team 65   ·   Manipal University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644652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C6E56"/>
                </a:solidFill>
                <a:latin typeface="Calibri"/>
                <a:cs typeface="Calibri"/>
                <a:ea typeface="Calibri"/>
                <a:u val="none"/>
                <a:hlinkClick r:id="rId2"/>
              </a:rPr>
              <a:t>finsight-off.vercel.app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698480" y="6446520"/>
            <a:ext cx="10515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4C5E"/>
                </a:solidFill>
                <a:latin typeface="Calibri"/>
                <a:cs typeface="Calibri"/>
                <a:ea typeface="Calibri"/>
              </a:rPr>
              <a:t>7  / 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B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640080" y="384048"/>
            <a:ext cx="384048" cy="73152"/>
          </a:xfrm>
          <a:prstGeom prst="rect">
            <a:avLst/>
          </a:prstGeom>
          <a:solidFill>
            <a:srgbClr val="C4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1143000" y="256032"/>
            <a:ext cx="9144000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C6E56"/>
                </a:solidFill>
                <a:latin typeface="Calibri"/>
                <a:cs typeface="Calibri"/>
                <a:ea typeface="Calibri"/>
              </a:rPr>
              <a:t>OPEN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713232"/>
            <a:ext cx="10972800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42033"/>
                </a:solidFill>
                <a:latin typeface="Calibri"/>
                <a:cs typeface="Calibri"/>
                <a:ea typeface="Calibri"/>
              </a:rPr>
              <a:t>The demo is already live.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1600200"/>
            <a:ext cx="3566160" cy="306324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96112" y="1810512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42033"/>
                </a:solidFill>
                <a:latin typeface="Calibri"/>
                <a:cs typeface="Calibri"/>
                <a:ea typeface="Calibri"/>
              </a:rPr>
              <a:t>Live site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377440"/>
            <a:ext cx="306324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E4C5E"/>
                </a:solidFill>
                <a:latin typeface="Calibri"/>
                <a:cs typeface="Calibri"/>
                <a:ea typeface="Calibri"/>
              </a:rPr>
              <a:t>The forecast, the example, and the upload.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794760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C6E56"/>
                </a:solidFill>
                <a:latin typeface="Calibri"/>
                <a:cs typeface="Calibri"/>
                <a:ea typeface="Calibri"/>
                <a:u val="none"/>
                <a:hlinkClick r:id="rId2"/>
              </a:rPr>
              <a:t>finsight-off.vercel.app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89120" y="1600200"/>
            <a:ext cx="3566160" cy="306324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645152" y="1810512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42033"/>
                </a:solidFill>
                <a:latin typeface="Calibri"/>
                <a:cs typeface="Calibri"/>
                <a:ea typeface="Calibri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45152" y="2377440"/>
            <a:ext cx="306324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E4C5E"/>
                </a:solidFill>
                <a:latin typeface="Calibri"/>
                <a:cs typeface="Calibri"/>
                <a:ea typeface="Calibri"/>
              </a:rPr>
              <a:t>Harbor &amp; Co. Open the rows behind the chart.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2" y="3794760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C6E56"/>
                </a:solidFill>
                <a:latin typeface="Calibri"/>
                <a:cs typeface="Calibri"/>
                <a:ea typeface="Calibri"/>
                <a:u val="none"/>
                <a:hlinkClick r:id="rId3"/>
              </a:rPr>
              <a:t>finsight-off.vercel.app/demo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38159" y="1600200"/>
            <a:ext cx="3566160" cy="3063240"/>
          </a:xfrm>
          <a:prstGeom prst="rect">
            <a:avLst/>
          </a:prstGeom>
          <a:solidFill>
            <a:srgbClr val="FFFC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394191" y="1810512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42033"/>
                </a:solidFill>
                <a:latin typeface="Calibri"/>
                <a:cs typeface="Calibri"/>
                <a:ea typeface="Calibri"/>
              </a:rPr>
              <a:t>GitHub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94191" y="2377440"/>
            <a:ext cx="3063240" cy="10058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3E4C5E"/>
                </a:solidFill>
                <a:latin typeface="Calibri"/>
                <a:cs typeface="Calibri"/>
                <a:ea typeface="Calibri"/>
              </a:rPr>
              <a:t>The report, this deck, and the code.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94191" y="3794760"/>
            <a:ext cx="306324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0C6E56"/>
                </a:solidFill>
                <a:latin typeface="Calibri"/>
                <a:cs typeface="Calibri"/>
                <a:ea typeface="Calibri"/>
                <a:u val="none"/>
                <a:hlinkClick r:id="rId4"/>
              </a:rPr>
              <a:t>github.com/Nancy20052020/finsight_off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892040"/>
            <a:ext cx="10881360" cy="9601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142033"/>
                </a:solidFill>
                <a:latin typeface="Calibri"/>
                <a:cs typeface="Calibri"/>
                <a:ea typeface="Calibri"/>
              </a:rPr>
              <a:t>Upload needs both files: a bank CSV and an invoice CSV. If one is missing, the page says so. Nothing is stored. The example is synthetic. These are calculations, not a promise.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6446520"/>
            <a:ext cx="65836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4C5E"/>
                </a:solidFill>
                <a:latin typeface="Calibri"/>
                <a:cs typeface="Calibri"/>
                <a:ea typeface="Calibri"/>
              </a:rPr>
              <a:t>FinSight AI   ·   Team 65   ·   Manipal University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6446520"/>
            <a:ext cx="329184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0C6E56"/>
                </a:solidFill>
                <a:latin typeface="Calibri"/>
                <a:cs typeface="Calibri"/>
                <a:ea typeface="Calibri"/>
                <a:u val="none"/>
                <a:hlinkClick r:id="rId2"/>
              </a:rPr>
              <a:t>finsight-off.vercel.app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98480" y="6446520"/>
            <a:ext cx="10515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3E4C5E"/>
                </a:solidFill>
                <a:latin typeface="Calibri"/>
                <a:cs typeface="Calibri"/>
                <a:ea typeface="Calibri"/>
              </a:rPr>
              <a:t>8  / 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Rectangle 2"/>
          <p:cNvSpPr/>
          <p:nvPr/>
        </p:nvSpPr>
        <p:spPr>
          <a:xfrm>
            <a:off x="0" y="0"/>
            <a:ext cx="4709160" cy="6858000"/>
          </a:xfrm>
          <a:prstGeom prst="rect">
            <a:avLst/>
          </a:prstGeom>
          <a:solidFill>
            <a:srgbClr val="08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4709160" y="0"/>
            <a:ext cx="73152" cy="6858000"/>
          </a:xfrm>
          <a:prstGeom prst="rect">
            <a:avLst/>
          </a:prstGeom>
          <a:solidFill>
            <a:srgbClr val="C4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11480" y="1554480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Nancy Verma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286000"/>
            <a:ext cx="4023360" cy="6400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Amisha Singh</a:t>
            </a:r>
          </a:p>
        </p:txBody>
      </p:sp>
      <p:sp>
        <p:nvSpPr>
          <p:cNvPr id="7" name="Rectangle 6"/>
          <p:cNvSpPr/>
          <p:nvPr/>
        </p:nvSpPr>
        <p:spPr>
          <a:xfrm>
            <a:off x="411480" y="3108960"/>
            <a:ext cx="1463040" cy="54864"/>
          </a:xfrm>
          <a:prstGeom prst="rect">
            <a:avLst/>
          </a:prstGeom>
          <a:solidFill>
            <a:srgbClr val="C492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411480" y="3337560"/>
            <a:ext cx="4023360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4922A"/>
                </a:solidFill>
                <a:latin typeface="Calibri"/>
                <a:cs typeface="Calibri"/>
                <a:ea typeface="Calibri"/>
              </a:rPr>
              <a:t>Manipal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384048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Team 65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4251960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5D0DC"/>
                </a:solidFill>
                <a:latin typeface="Calibri"/>
                <a:cs typeface="Calibri"/>
                <a:ea typeface="Calibri"/>
              </a:rPr>
              <a:t>Track 3, FinTech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20640" y="1965960"/>
            <a:ext cx="6583680" cy="10515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5400" b="1" i="0">
                <a:solidFill>
                  <a:srgbClr val="FFFFFF"/>
                </a:solidFill>
                <a:latin typeface="Calibri"/>
                <a:cs typeface="Calibri"/>
                <a:ea typeface="Calibri"/>
              </a:rPr>
              <a:t>Thank you.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20640" y="3291840"/>
            <a:ext cx="65836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5D0DC"/>
                </a:solidFill>
                <a:latin typeface="Calibri"/>
                <a:cs typeface="Calibri"/>
                <a:ea typeface="Calibri"/>
              </a:rPr>
              <a:t>Live site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20640" y="361188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4922A"/>
                </a:solidFill>
                <a:latin typeface="Calibri"/>
                <a:cs typeface="Calibri"/>
                <a:ea typeface="Calibri"/>
                <a:u val="none"/>
                <a:hlinkClick r:id="rId2"/>
              </a:rPr>
              <a:t>finsight-off.vercel.app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4160520"/>
            <a:ext cx="658368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C5D0DC"/>
                </a:solidFill>
                <a:latin typeface="Calibri"/>
                <a:cs typeface="Calibri"/>
                <a:ea typeface="Calibri"/>
              </a:rPr>
              <a:t>GitHub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40" y="4480560"/>
            <a:ext cx="6583680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C4922A"/>
                </a:solidFill>
                <a:latin typeface="Calibri"/>
                <a:cs typeface="Calibri"/>
                <a:ea typeface="Calibri"/>
                <a:u val="none"/>
                <a:hlinkClick r:id="rId3"/>
              </a:rPr>
              <a:t>github.com/Nancy20052020/finsight_off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6446520"/>
            <a:ext cx="10515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C5D0DC"/>
                </a:solidFill>
                <a:latin typeface="Calibri"/>
                <a:cs typeface="Calibri"/>
                <a:ea typeface="Calibri"/>
              </a:rPr>
              <a:t>9  / 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C4922A"/>
      </a:hlink>
      <a:folHlink>
        <a:srgbClr val="0C6E56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FinSight AI — Team 65, Manipal University</dc:title>
  <dc:subject>Track 3 FinTech AI, Hackathon 4.0</dc:subject>
  <dc:creator>Amisha Singh and Nancy Verma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